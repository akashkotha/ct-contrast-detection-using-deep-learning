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7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B73"/>
                </a:solidFill>
                <a:latin typeface="+mn-lt"/>
              </a:rPr>
              <a:t>Mean values inside the body mask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contrast</c:v>
                </c:pt>
              </c:strCache>
            </c:strRef>
          </c:tx>
          <c:spPr>
            <a:solidFill>
              <a:srgbClr val="7FA7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D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Soft-tissue mean HU</c:v>
                  </c:pt>
                  <c:pt idx="1">
                    <c:v>90th percentile HU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16.4</c:v>
                </c:pt>
                <c:pt idx="1">
                  <c:v>84.5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Contrast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D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Soft-tissue mean HU</c:v>
                  </c:pt>
                  <c:pt idx="1">
                    <c:v>90th percentile HU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37.3</c:v>
                </c:pt>
                <c:pt idx="1">
                  <c:v>161.6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D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2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7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B73"/>
                </a:solidFill>
                <a:latin typeface="+mn-lt"/>
              </a:rPr>
              <a:t>Out-of-fold AUC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AUC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D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HU + LR</c:v>
                  </c:pt>
                  <c:pt idx="1">
                    <c:v>Age only</c:v>
                  </c:pt>
                  <c:pt idx="2">
                    <c:v>Small CNN</c:v>
                  </c:pt>
                  <c:pt idx="3">
                    <c:v>ResNet18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0.952</c:v>
                </c:pt>
                <c:pt idx="1">
                  <c:v>0.543</c:v>
                </c:pt>
                <c:pt idx="2">
                  <c:v>0.902</c:v>
                </c:pt>
                <c:pt idx="3">
                  <c:v>0.948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F2D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E2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 Contrast Detection Using Deep Learning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A541"/>
                </a:solidFill>
              </a:rPr>
              <a:t>Is this CT slice contrast-enhanced? Classifying from pixels, not metadata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80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Abhinava Kotha  |  Arya Gour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ADCE2"/>
                </a:solidFill>
              </a:rPr>
              <a:t>B.Tech Computer Science and Engineering, Symbiosis Institute of Technology, Nagpur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2"/>
                </a:solidFill>
              </a:rPr>
              <a:t>Dataset: SIIM medical images (Kaggle)  |  Framework: PyTorch  |  Patient-grouped 5-fold cross-validation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detect contrast from pixels?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33"/>
                </a:solidFill>
              </a:rPr>
              <a:t>Contrast-enhanced and non-contrast CT slices look different and are used differently, so knowing which is which matters for curation and downstream models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33"/>
                </a:solidFill>
              </a:rPr>
              <a:t>The DICOM contrast tag is unreliable: the ContrastBolusAgent field is blank on 36 of the 47 contrast slices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33"/>
                </a:solidFill>
              </a:rPr>
              <a:t>Goal: build and compare classifiers that decide contrast vs no contrast directly from the image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223760" y="1554480"/>
            <a:ext cx="4389120" cy="4023360"/>
          </a:xfrm>
          <a:prstGeom prst="roundRect">
            <a:avLst>
              <a:gd name="adj" fmla="val 3409"/>
            </a:avLst>
          </a:prstGeom>
          <a:solidFill>
            <a:srgbClr val="0B2C3D"/>
          </a:solidFill>
          <a:ln w="12700">
            <a:solidFill>
              <a:srgbClr val="0B2C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21031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/ 47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3474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contrast slices have an empty contrast-agent tag, so metadata cannot be trusted as the label source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pipeline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691640" cy="2377440"/>
          </a:xfrm>
          <a:prstGeom prst="roundRect">
            <a:avLst>
              <a:gd name="adj" fmla="val 6486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103120"/>
            <a:ext cx="502920" cy="50292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C3D"/>
                </a:solidFill>
              </a:rPr>
              <a:t>Load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33"/>
                </a:solidFill>
              </a:rPr>
              <a:t>DICOM to HU, label from overview.csv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23160" y="1920240"/>
            <a:ext cx="1691640" cy="2377440"/>
          </a:xfrm>
          <a:prstGeom prst="roundRect">
            <a:avLst>
              <a:gd name="adj" fmla="val 6486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2103120"/>
            <a:ext cx="502920" cy="50292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C3D"/>
                </a:solidFill>
              </a:rPr>
              <a:t>EDA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1546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33"/>
                </a:solidFill>
              </a:rPr>
              <a:t>Balance, metadata, HU statistics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1920240"/>
            <a:ext cx="1691640" cy="2377440"/>
          </a:xfrm>
          <a:prstGeom prst="roundRect">
            <a:avLst>
              <a:gd name="adj" fmla="val 6486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2103120"/>
            <a:ext cx="502920" cy="50292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C3D"/>
                </a:solidFill>
              </a:rPr>
              <a:t>Preprocess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31546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33"/>
                </a:solidFill>
              </a:rPr>
              <a:t>Window, resize, normalise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1920240"/>
            <a:ext cx="1691640" cy="2377440"/>
          </a:xfrm>
          <a:prstGeom prst="roundRect">
            <a:avLst>
              <a:gd name="adj" fmla="val 6486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2103120"/>
            <a:ext cx="502920" cy="50292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C3D"/>
                </a:solidFill>
              </a:rPr>
              <a:t>Split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1546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33"/>
                </a:solidFill>
              </a:rPr>
              <a:t>Patient-grouped 5-fold CV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1920240"/>
            <a:ext cx="1691640" cy="2377440"/>
          </a:xfrm>
          <a:prstGeom prst="roundRect">
            <a:avLst>
              <a:gd name="adj" fmla="val 6486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41080" y="2103120"/>
            <a:ext cx="502920" cy="50292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41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C3D"/>
                </a:solidFill>
              </a:rPr>
              <a:t>Model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31546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33"/>
                </a:solidFill>
              </a:rPr>
              <a:t>LR, small CNN, ResNet18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921240" y="1920240"/>
            <a:ext cx="1691640" cy="2377440"/>
          </a:xfrm>
          <a:prstGeom prst="roundRect">
            <a:avLst>
              <a:gd name="adj" fmla="val 6486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5600" y="2103120"/>
            <a:ext cx="502920" cy="50292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5156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001268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C3D"/>
                </a:solidFill>
              </a:rPr>
              <a:t>Explain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31546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33"/>
                </a:solidFill>
              </a:rPr>
              <a:t>ROC, confusion, Grad-CAM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B73"/>
                </a:solidFill>
              </a:rPr>
              <a:t>Every assumption (column names, patient IDs, leakage) is verified in code, and each section prints checks before the next one runs.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SIIM medical images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</a:rPr>
              <a:t>CT slices after removing 6 exact duplicates (100 originally)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/ 47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2560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</a:rPr>
              <a:t>no-contrast vs contrast: perfectly balanced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560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</a:rPr>
              <a:t>unique PatientIDs across the 94 images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512²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918972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</a:rPr>
              <a:t>pixels per slice; HU range -3024 to 3072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114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7F8C"/>
                </a:solidFill>
              </a:rPr>
              <a:t>Source: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3"/>
                </a:solidFill>
              </a:rPr>
              <a:t>Kaggle kmader/siim-medical-images (overview.csv plus 100 DICOM files). Label = the Contrast column, matched to DICOM files by name.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7F8C"/>
                </a:solidFill>
              </a:rPr>
              <a:t>Patient structure: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3"/>
                </a:solidFill>
              </a:rPr>
              <a:t>several slices share a patient (54 IDs for 94 images), so splits must be grouped by patient to avoid leakage.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before modelling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</a:rPr>
              <a:t>Duplicates and integrity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6 exact duplicate images removed (MD5 hash); afterwards 0 duplicates and no NaN/Inf values.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</a:rPr>
              <a:t>Age confound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488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Mean age 69.2 (no contrast) vs 65.7 (contrast), Mann-Whitney p = 0.104. An age-only classifier is kept as a control.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</a:rPr>
              <a:t>Metadata is not a label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4348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ContrastBolusAgent has 8 distinct values and is empty for most contrast slices, so it cannot replace image-based detection.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</a:rPr>
              <a:t>Possible shortcut: anatomy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4348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Body-area fraction differs slightly by class (mean 0.46 vs 0.53). Grad-CAM is used later to check the model is not relying on 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 raises soft-tissue HU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6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46304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</a:rPr>
              <a:t>90th percentile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148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84.5 to 161.6 HU, p = 4.2e-11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98080" y="301752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2668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</a:rPr>
              <a:t>Soft-tissue mean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3703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16.4 to 37.3 HU, p = 3.0e-6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8080" y="457200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26680" y="4754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</a:rPr>
              <a:t>99th percentile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5257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p = 0.35: bone and extremes do not change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63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C3D"/>
                </a:solidFill>
              </a:rPr>
              <a:t>DICOM to Hounsfield units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4630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3"/>
                </a:solidFill>
              </a:rPr>
              <a:t>pixel value x RescaleSlope + RescaleIntercept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377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C3D"/>
                </a:solidFill>
              </a:rPr>
              <a:t>Soft-tissue window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3774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3"/>
                </a:solidFill>
              </a:rPr>
              <a:t>-160 to 240 HU (level 40, width 400), scaled to [0, 1]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291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C3D"/>
                </a:solidFill>
              </a:rPr>
              <a:t>Resize to 224 x 224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2918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3"/>
                </a:solidFill>
              </a:rPr>
              <a:t>bilinear with antialiasing; 1 channel repeated to 3, ImageNet mean/std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279392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206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C3D"/>
                </a:solidFill>
              </a:rPr>
              <a:t>Geometric augmentation only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42062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3"/>
                </a:solidFill>
              </a:rPr>
              <a:t>horizontal flip, rotation up to 10 degrees, 5% shift, scale 0.95 to 1.05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193792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C3D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120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C3D"/>
                </a:solidFill>
              </a:rPr>
              <a:t>No intensity augmentation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5120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3"/>
                </a:solidFill>
              </a:rPr>
              <a:t>contrast is an intensity effect, so brightness or contrast jitter could erase the signal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Patient-grouped 5-fold cross-validation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852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280160"/>
                <a:gridCol w="21945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Fold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Train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Positives in test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70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24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11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70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24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15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81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13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77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17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78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16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D33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554480"/>
            <a:ext cx="4754880" cy="1737360"/>
          </a:xfrm>
          <a:prstGeom prst="roundRect">
            <a:avLst>
              <a:gd name="adj" fmla="val 6316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86600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</a:rPr>
              <a:t>Why this design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22402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With ~100 images a single split is noisy. Folds are stratified and grouped by PatientID.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0" y="3566160"/>
            <a:ext cx="4754880" cy="1737360"/>
          </a:xfrm>
          <a:prstGeom prst="roundRect">
            <a:avLst>
              <a:gd name="adj" fmla="val 6316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86600" y="3749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</a:rPr>
              <a:t>Safeguards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42519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Code asserts zero patient overlap between train and test. Epochs are fixed, so no test fold picks a checkpoint.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 compared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</a:rPr>
              <a:t>A. HU features + LR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148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49 features: HU histogram, percentiles, mean, SD inside the body mask. Standardised, logistic regression (C = 0.1).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64992" y="155448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737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6B73"/>
                </a:solidFill>
              </a:rPr>
              <a:t>B. Age-only control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240280"/>
            <a:ext cx="2148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Logistic regression on patient age. Should stay near chance; a high score would reveal a confound.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81344" y="155448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737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</a:rPr>
              <a:t>C. Small CNN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240280"/>
            <a:ext cx="2148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4 conv blocks (16 to 128 filters), dropout 0.3. Trained from scratch, 30 epochs, lr 1e-3.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97696" y="155448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6296" y="1737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</a:rPr>
              <a:t>D. ResNet18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240280"/>
            <a:ext cx="2148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ImageNet-pretrained, fine-tuned. AdamW, cosine schedule, 15 epochs, lr 1e-4.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(out-of-fold, mean +/- SD across folds)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  <a:gridCol w="1554480"/>
                <a:gridCol w="1554480"/>
                <a:gridCol w="25603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OOF AUC (95% CI)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C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D33"/>
                          </a:solidFill>
                        </a:rPr>
                        <a:t>HU features + LR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0.871 +/- 0.033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0.896 +/- 0.097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0.833 +/- 0.100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0.857 +/- 0.046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0.952 [0.905, 0.985]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D33"/>
                          </a:solidFill>
                        </a:rPr>
                        <a:t>Age only (control)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0.583 +/- 0.100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0.633 +/- 0.188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0.555 +/- 0.233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0.544 +/- 0.118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0.543 [0.398, 0.683]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D33"/>
                          </a:solidFill>
                        </a:rPr>
                        <a:t>Small CNN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0.812 +/- 0.099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0.897 +/- 0.146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0.760 +/- 0.196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0.797 +/- 0.099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0.902 [0.838, 0.959]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D33"/>
                          </a:solidFill>
                        </a:rPr>
                        <a:t>ResNet18 (fine-tuned)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0.851 +/- 0.096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0.853 +/- 0.202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0.868 +/- 0.155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0.836 +/- 0.110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D33"/>
                          </a:solidFill>
                        </a:rPr>
                        <a:t>0.948 [0.899, 0.985]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46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C3D"/>
                </a:solidFill>
              </a:rPr>
              <a:t>Handcrafted HU features match fine-tuned ResNet18 (0.952 vs 0.948 AUC, heavily overlapping CIs). The age-only control sits at chance, so age is not driving the result.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Discrimination and error profile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11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323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3D"/>
                </a:solidFill>
              </a:rPr>
              <a:t>Confusion matrix: HU features + LR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32320" y="201168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True no contrast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418320" y="201168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41832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33"/>
                </a:solidFill>
              </a:rPr>
              <a:t>False positive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0" y="374904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4754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33"/>
                </a:solidFill>
              </a:rPr>
              <a:t>False negative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418320" y="374904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1832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9418320" y="4754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True contrast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0" y="5532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</a:rPr>
              <a:t>Threshold 0.5. Rows: true class; errors lean toward missed contrast (8) over false alarms (4).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Grad-CAM: what is ResNet18 looking at?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</a:rPr>
              <a:t>Plausible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108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On confident contrast slices (p = 0.96 and 1.00) the heat concentrates on the heart and aorta region, where enhancement is expected.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A5B00"/>
                </a:solidFill>
              </a:rPr>
              <a:t>Warning signs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148840"/>
            <a:ext cx="3108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One non-contrast slice scored 0.97, and a contrast slice scored 0.42 with attention near the bottom edge of the image, which looks like a possible shortcut.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7F8C"/>
                </a:solidFill>
              </a:rPr>
              <a:t>How far to trust it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148840"/>
            <a:ext cx="3108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D33"/>
                </a:solidFill>
              </a:rPr>
              <a:t>Only 6 held-out images from fold 0 were inspected. Treat as qualitative evidence, not proof of what the model learned.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33"/>
                </a:solidFill>
              </a:rPr>
              <a:t>Small sample: 94 slices, so conclusions are limited; report AUC with its bootstrap CI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33"/>
                </a:solidFill>
              </a:rPr>
              <a:t>Independence: 54 patients for 94 images; grouped splits reduce, but do not remove, shared-anatomy risk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33"/>
                </a:solidFill>
              </a:rPr>
              <a:t>Shortcuts: body region, scanner or age could help a model without detecting contrast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33"/>
                </a:solidFill>
              </a:rPr>
              <a:t>Fixed epochs and hyperparameters: any tuning needs a nested or separate validation split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33"/>
                </a:solidFill>
              </a:rPr>
              <a:t>Scope: proof of concept with no external validation, not evidence of clinical readiness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next steps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14435A"/>
          </a:solidFill>
          <a:ln w="12700">
            <a:solidFill>
              <a:srgbClr val="1443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</a:rPr>
              <a:t>Contrast is detectable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4688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HU features reach 0.952 OOF AUC; ResNet18 reaches 0.948 and the small CNN 0.902.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14435A"/>
          </a:solidFill>
          <a:ln w="12700">
            <a:solidFill>
              <a:srgbClr val="1443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</a:rPr>
              <a:t>Simple can match deep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4688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On ~100 slices, interpretable intensity features rival fine-tuned deep models.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14435A"/>
          </a:solidFill>
          <a:ln w="12700">
            <a:solidFill>
              <a:srgbClr val="1443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</a:rPr>
              <a:t>Controls held up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4688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Age-only AUC 0.543 shows age is not the driver; Grad-CAM flags edge cases to check.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E2"/>
                </a:solidFill>
              </a:rPr>
              <a:t>Next: external validation on other scanners and sites, more patients, nested-CV tuning, and quantitative checks of Grad-CAM shortcuts.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T Contrast">
  <a:themeElements>
    <a:clrScheme name="CT Contrast">
      <a:dk1>
        <a:srgbClr val="1F2D33"/>
      </a:dk1>
      <a:lt1>
        <a:srgbClr val="FFFFFF"/>
      </a:lt1>
      <a:dk2>
        <a:srgbClr val="0B2C3D"/>
      </a:dk2>
      <a:lt2>
        <a:srgbClr val="E8F1F3"/>
      </a:lt2>
      <a:accent1>
        <a:srgbClr val="1B7F8C"/>
      </a:accent1>
      <a:accent2>
        <a:srgbClr val="F2A541"/>
      </a:accent2>
      <a:accent3>
        <a:srgbClr val="5B6B73"/>
      </a:accent3>
      <a:accent4>
        <a:srgbClr val="2E9E8F"/>
      </a:accent4>
      <a:accent5>
        <a:srgbClr val="C8553D"/>
      </a:accent5>
      <a:accent6>
        <a:srgbClr val="7FA7B0"/>
      </a:accent6>
      <a:hlink>
        <a:srgbClr val="1B7F8C"/>
      </a:hlink>
      <a:folHlink>
        <a:srgbClr val="5B6B73"/>
      </a:folHlink>
    </a:clrScheme>
    <a:fontScheme name="CT Contra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 Contrast Detection Using Deep Learning</dc:title>
  <dc:subject>PptxGenJS Presentation</dc:subject>
  <dc:creator>PptxGenJS</dc:creator>
  <cp:lastModifiedBy>PptxGenJS</cp:lastModifiedBy>
  <cp:revision>1</cp:revision>
  <dcterms:created xsi:type="dcterms:W3CDTF">2026-10-24T12:17:15Z</dcterms:created>
  <dcterms:modified xsi:type="dcterms:W3CDTF">2026-10-24T12:17:15Z</dcterms:modified>
</cp:coreProperties>
</file>